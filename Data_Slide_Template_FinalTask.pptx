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p:scale>
          <a:sx n="75" d="100"/>
          <a:sy n="75" d="100"/>
        </p:scale>
        <p:origin x="456" y="-16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FAIZAN%20COMPUTER\Videos\Jawaria's%20Folder\Internships\BCG%20X\Campaign_Data_Completed%20Task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[Campaign_Data_Completed Task1.xlsx]Channel+Campaign!PivotTable1</c:name>
    <c:fmtId val="8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'Channel+Campaign'!$B$5:$B$6</c:f>
              <c:strCache>
                <c:ptCount val="1"/>
                <c:pt idx="0">
                  <c:v>Email</c:v>
                </c:pt>
              </c:strCache>
            </c:strRef>
          </c:tx>
          <c:spPr>
            <a:solidFill>
              <a:schemeClr val="accent1"/>
            </a:solidFill>
            <a:ln>
              <a:noFill/>
            </a:ln>
            <a:effectLst/>
          </c:spPr>
          <c:invertIfNegative val="0"/>
          <c:cat>
            <c:strRef>
              <c:f>'Channel+Campaign'!$A$7:$A$9</c:f>
              <c:strCache>
                <c:ptCount val="2"/>
                <c:pt idx="0">
                  <c:v>A</c:v>
                </c:pt>
                <c:pt idx="1">
                  <c:v>B</c:v>
                </c:pt>
              </c:strCache>
            </c:strRef>
          </c:cat>
          <c:val>
            <c:numRef>
              <c:f>'Channel+Campaign'!$B$7:$B$9</c:f>
              <c:numCache>
                <c:formatCode>_-[$$-409]* #,##0.00_ ;_-[$$-409]* \-#,##0.00\ ;_-[$$-409]* "-"??_ ;_-@_ </c:formatCode>
                <c:ptCount val="2"/>
                <c:pt idx="0">
                  <c:v>2124.4700000000003</c:v>
                </c:pt>
                <c:pt idx="1">
                  <c:v>1382.3799999999999</c:v>
                </c:pt>
              </c:numCache>
            </c:numRef>
          </c:val>
          <c:extLst>
            <c:ext xmlns:c16="http://schemas.microsoft.com/office/drawing/2014/chart" uri="{C3380CC4-5D6E-409C-BE32-E72D297353CC}">
              <c16:uniqueId val="{00000000-C60D-4934-9AA8-AB304391CA38}"/>
            </c:ext>
          </c:extLst>
        </c:ser>
        <c:ser>
          <c:idx val="1"/>
          <c:order val="1"/>
          <c:tx>
            <c:strRef>
              <c:f>'Channel+Campaign'!$C$5:$C$6</c:f>
              <c:strCache>
                <c:ptCount val="1"/>
                <c:pt idx="0">
                  <c:v>Instagram</c:v>
                </c:pt>
              </c:strCache>
            </c:strRef>
          </c:tx>
          <c:spPr>
            <a:solidFill>
              <a:schemeClr val="accent2"/>
            </a:solidFill>
            <a:ln>
              <a:noFill/>
            </a:ln>
            <a:effectLst/>
          </c:spPr>
          <c:invertIfNegative val="0"/>
          <c:cat>
            <c:strRef>
              <c:f>'Channel+Campaign'!$A$7:$A$9</c:f>
              <c:strCache>
                <c:ptCount val="2"/>
                <c:pt idx="0">
                  <c:v>A</c:v>
                </c:pt>
                <c:pt idx="1">
                  <c:v>B</c:v>
                </c:pt>
              </c:strCache>
            </c:strRef>
          </c:cat>
          <c:val>
            <c:numRef>
              <c:f>'Channel+Campaign'!$C$7:$C$9</c:f>
              <c:numCache>
                <c:formatCode>_-[$$-409]* #,##0.00_ ;_-[$$-409]* \-#,##0.00\ ;_-[$$-409]* "-"??_ ;_-@_ </c:formatCode>
                <c:ptCount val="2"/>
                <c:pt idx="0">
                  <c:v>969.46</c:v>
                </c:pt>
                <c:pt idx="1">
                  <c:v>416.14</c:v>
                </c:pt>
              </c:numCache>
            </c:numRef>
          </c:val>
          <c:extLst>
            <c:ext xmlns:c16="http://schemas.microsoft.com/office/drawing/2014/chart" uri="{C3380CC4-5D6E-409C-BE32-E72D297353CC}">
              <c16:uniqueId val="{00000001-C60D-4934-9AA8-AB304391CA38}"/>
            </c:ext>
          </c:extLst>
        </c:ser>
        <c:ser>
          <c:idx val="2"/>
          <c:order val="2"/>
          <c:tx>
            <c:strRef>
              <c:f>'Channel+Campaign'!$D$5:$D$6</c:f>
              <c:strCache>
                <c:ptCount val="1"/>
                <c:pt idx="0">
                  <c:v>Web Banner</c:v>
                </c:pt>
              </c:strCache>
            </c:strRef>
          </c:tx>
          <c:spPr>
            <a:solidFill>
              <a:schemeClr val="accent3"/>
            </a:solidFill>
            <a:ln>
              <a:noFill/>
            </a:ln>
            <a:effectLst/>
          </c:spPr>
          <c:invertIfNegative val="0"/>
          <c:cat>
            <c:strRef>
              <c:f>'Channel+Campaign'!$A$7:$A$9</c:f>
              <c:strCache>
                <c:ptCount val="2"/>
                <c:pt idx="0">
                  <c:v>A</c:v>
                </c:pt>
                <c:pt idx="1">
                  <c:v>B</c:v>
                </c:pt>
              </c:strCache>
            </c:strRef>
          </c:cat>
          <c:val>
            <c:numRef>
              <c:f>'Channel+Campaign'!$D$7:$D$9</c:f>
              <c:numCache>
                <c:formatCode>_-[$$-409]* #,##0.00_ ;_-[$$-409]* \-#,##0.00\ ;_-[$$-409]* "-"??_ ;_-@_ </c:formatCode>
                <c:ptCount val="2"/>
                <c:pt idx="0">
                  <c:v>633.06000000000006</c:v>
                </c:pt>
                <c:pt idx="1">
                  <c:v>318.92000000000007</c:v>
                </c:pt>
              </c:numCache>
            </c:numRef>
          </c:val>
          <c:extLst>
            <c:ext xmlns:c16="http://schemas.microsoft.com/office/drawing/2014/chart" uri="{C3380CC4-5D6E-409C-BE32-E72D297353CC}">
              <c16:uniqueId val="{00000002-C60D-4934-9AA8-AB304391CA38}"/>
            </c:ext>
          </c:extLst>
        </c:ser>
        <c:dLbls>
          <c:showLegendKey val="0"/>
          <c:showVal val="0"/>
          <c:showCatName val="0"/>
          <c:showSerName val="0"/>
          <c:showPercent val="0"/>
          <c:showBubbleSize val="0"/>
        </c:dLbls>
        <c:gapWidth val="150"/>
        <c:axId val="1894627168"/>
        <c:axId val="1894628608"/>
      </c:barChart>
      <c:catAx>
        <c:axId val="18946271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894628608"/>
        <c:crosses val="autoZero"/>
        <c:auto val="1"/>
        <c:lblAlgn val="ctr"/>
        <c:lblOffset val="100"/>
        <c:noMultiLvlLbl val="0"/>
      </c:catAx>
      <c:valAx>
        <c:axId val="1894628608"/>
        <c:scaling>
          <c:orientation val="minMax"/>
        </c:scaling>
        <c:delete val="0"/>
        <c:axPos val="l"/>
        <c:majorGridlines>
          <c:spPr>
            <a:ln w="9525" cap="flat" cmpd="sng" algn="ctr">
              <a:solidFill>
                <a:schemeClr val="tx1">
                  <a:lumMod val="15000"/>
                  <a:lumOff val="85000"/>
                </a:schemeClr>
              </a:solidFill>
              <a:round/>
            </a:ln>
            <a:effectLst/>
          </c:spPr>
        </c:majorGridlines>
        <c:numFmt formatCode="_-[$$-409]* #,##0.00_ ;_-[$$-409]* \-#,##0.00\ ;_-[$$-409]* &quot;-&quot;??_ ;_-@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894627168"/>
        <c:crosses val="autoZero"/>
        <c:crossBetween val="between"/>
      </c:valAx>
      <c:spPr>
        <a:noFill/>
        <a:ln>
          <a:solidFill>
            <a:schemeClr val="accent3">
              <a:lumMod val="75000"/>
            </a:schemeClr>
          </a:solid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[Campaign_Data_Completed Task1.xlsx]Channel+Campaign!PivotTable1</c:name>
    <c:fmtId val="87"/>
  </c:pivotSource>
  <c:chart>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0"/>
    </c:view3D>
    <c:floor>
      <c:thickness val="0"/>
      <c:spPr>
        <a:noFill/>
        <a:ln w="9525" cap="flat" cmpd="sng" algn="ctr">
          <a:solidFill>
            <a:schemeClr val="tx1">
              <a:lumMod val="15000"/>
              <a:lumOff val="85000"/>
            </a:schemeClr>
          </a:solidFill>
          <a:round/>
        </a:ln>
        <a:effectLst/>
        <a:sp3d contourW="9525">
          <a:contourClr>
            <a:schemeClr val="tx1">
              <a:lumMod val="15000"/>
              <a:lumOff val="85000"/>
            </a:schemeClr>
          </a:contourClr>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5.5567573575087376E-2"/>
          <c:y val="3.0383844680793616E-2"/>
          <c:w val="0.75062933942254728"/>
          <c:h val="0.85423034372023354"/>
        </c:manualLayout>
      </c:layout>
      <c:bar3DChart>
        <c:barDir val="bar"/>
        <c:grouping val="stacked"/>
        <c:varyColors val="0"/>
        <c:ser>
          <c:idx val="0"/>
          <c:order val="0"/>
          <c:tx>
            <c:strRef>
              <c:f>'Channel+Campaign'!$B$5:$B$6</c:f>
              <c:strCache>
                <c:ptCount val="1"/>
                <c:pt idx="0">
                  <c:v>Email</c:v>
                </c:pt>
              </c:strCache>
            </c:strRef>
          </c:tx>
          <c:spPr>
            <a:solidFill>
              <a:schemeClr val="accent1"/>
            </a:solidFill>
            <a:ln>
              <a:noFill/>
            </a:ln>
            <a:effectLst/>
            <a:sp3d/>
          </c:spPr>
          <c:invertIfNegative val="0"/>
          <c:cat>
            <c:strRef>
              <c:f>'Channel+Campaign'!$A$7:$A$9</c:f>
              <c:strCache>
                <c:ptCount val="2"/>
                <c:pt idx="0">
                  <c:v>A</c:v>
                </c:pt>
                <c:pt idx="1">
                  <c:v>B</c:v>
                </c:pt>
              </c:strCache>
            </c:strRef>
          </c:cat>
          <c:val>
            <c:numRef>
              <c:f>'Channel+Campaign'!$B$7:$B$9</c:f>
              <c:numCache>
                <c:formatCode>_-[$$-409]* #,##0.00_ ;_-[$$-409]* \-#,##0.00\ ;_-[$$-409]* "-"??_ ;_-@_ </c:formatCode>
                <c:ptCount val="2"/>
                <c:pt idx="0">
                  <c:v>2124.4700000000003</c:v>
                </c:pt>
                <c:pt idx="1">
                  <c:v>1382.3799999999999</c:v>
                </c:pt>
              </c:numCache>
            </c:numRef>
          </c:val>
          <c:extLst>
            <c:ext xmlns:c16="http://schemas.microsoft.com/office/drawing/2014/chart" uri="{C3380CC4-5D6E-409C-BE32-E72D297353CC}">
              <c16:uniqueId val="{00000000-5340-496E-B5BD-97964E82507B}"/>
            </c:ext>
          </c:extLst>
        </c:ser>
        <c:ser>
          <c:idx val="1"/>
          <c:order val="1"/>
          <c:tx>
            <c:strRef>
              <c:f>'Channel+Campaign'!$C$5:$C$6</c:f>
              <c:strCache>
                <c:ptCount val="1"/>
                <c:pt idx="0">
                  <c:v>Instagram</c:v>
                </c:pt>
              </c:strCache>
            </c:strRef>
          </c:tx>
          <c:spPr>
            <a:solidFill>
              <a:schemeClr val="accent2"/>
            </a:solidFill>
            <a:ln>
              <a:noFill/>
            </a:ln>
            <a:effectLst/>
            <a:sp3d/>
          </c:spPr>
          <c:invertIfNegative val="0"/>
          <c:cat>
            <c:strRef>
              <c:f>'Channel+Campaign'!$A$7:$A$9</c:f>
              <c:strCache>
                <c:ptCount val="2"/>
                <c:pt idx="0">
                  <c:v>A</c:v>
                </c:pt>
                <c:pt idx="1">
                  <c:v>B</c:v>
                </c:pt>
              </c:strCache>
            </c:strRef>
          </c:cat>
          <c:val>
            <c:numRef>
              <c:f>'Channel+Campaign'!$C$7:$C$9</c:f>
              <c:numCache>
                <c:formatCode>_-[$$-409]* #,##0.00_ ;_-[$$-409]* \-#,##0.00\ ;_-[$$-409]* "-"??_ ;_-@_ </c:formatCode>
                <c:ptCount val="2"/>
                <c:pt idx="0">
                  <c:v>969.46</c:v>
                </c:pt>
                <c:pt idx="1">
                  <c:v>416.14</c:v>
                </c:pt>
              </c:numCache>
            </c:numRef>
          </c:val>
          <c:extLst>
            <c:ext xmlns:c16="http://schemas.microsoft.com/office/drawing/2014/chart" uri="{C3380CC4-5D6E-409C-BE32-E72D297353CC}">
              <c16:uniqueId val="{00000001-5340-496E-B5BD-97964E82507B}"/>
            </c:ext>
          </c:extLst>
        </c:ser>
        <c:ser>
          <c:idx val="2"/>
          <c:order val="2"/>
          <c:tx>
            <c:strRef>
              <c:f>'Channel+Campaign'!$D$5:$D$6</c:f>
              <c:strCache>
                <c:ptCount val="1"/>
                <c:pt idx="0">
                  <c:v>Web Banner</c:v>
                </c:pt>
              </c:strCache>
            </c:strRef>
          </c:tx>
          <c:spPr>
            <a:solidFill>
              <a:schemeClr val="accent3"/>
            </a:solidFill>
            <a:ln>
              <a:noFill/>
            </a:ln>
            <a:effectLst/>
            <a:sp3d/>
          </c:spPr>
          <c:invertIfNegative val="0"/>
          <c:cat>
            <c:strRef>
              <c:f>'Channel+Campaign'!$A$7:$A$9</c:f>
              <c:strCache>
                <c:ptCount val="2"/>
                <c:pt idx="0">
                  <c:v>A</c:v>
                </c:pt>
                <c:pt idx="1">
                  <c:v>B</c:v>
                </c:pt>
              </c:strCache>
            </c:strRef>
          </c:cat>
          <c:val>
            <c:numRef>
              <c:f>'Channel+Campaign'!$D$7:$D$9</c:f>
              <c:numCache>
                <c:formatCode>_-[$$-409]* #,##0.00_ ;_-[$$-409]* \-#,##0.00\ ;_-[$$-409]* "-"??_ ;_-@_ </c:formatCode>
                <c:ptCount val="2"/>
                <c:pt idx="0">
                  <c:v>633.06000000000006</c:v>
                </c:pt>
                <c:pt idx="1">
                  <c:v>318.92000000000007</c:v>
                </c:pt>
              </c:numCache>
            </c:numRef>
          </c:val>
          <c:extLst>
            <c:ext xmlns:c16="http://schemas.microsoft.com/office/drawing/2014/chart" uri="{C3380CC4-5D6E-409C-BE32-E72D297353CC}">
              <c16:uniqueId val="{00000002-5340-496E-B5BD-97964E82507B}"/>
            </c:ext>
          </c:extLst>
        </c:ser>
        <c:dLbls>
          <c:showLegendKey val="0"/>
          <c:showVal val="0"/>
          <c:showCatName val="0"/>
          <c:showSerName val="0"/>
          <c:showPercent val="0"/>
          <c:showBubbleSize val="0"/>
        </c:dLbls>
        <c:gapWidth val="150"/>
        <c:shape val="box"/>
        <c:axId val="1708801664"/>
        <c:axId val="1708775264"/>
        <c:axId val="0"/>
      </c:bar3DChart>
      <c:catAx>
        <c:axId val="170880166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708775264"/>
        <c:crosses val="autoZero"/>
        <c:auto val="1"/>
        <c:lblAlgn val="ctr"/>
        <c:lblOffset val="100"/>
        <c:noMultiLvlLbl val="0"/>
      </c:catAx>
      <c:valAx>
        <c:axId val="1708775264"/>
        <c:scaling>
          <c:orientation val="minMax"/>
        </c:scaling>
        <c:delete val="0"/>
        <c:axPos val="b"/>
        <c:majorGridlines>
          <c:spPr>
            <a:ln w="9525" cap="flat" cmpd="sng" algn="ctr">
              <a:solidFill>
                <a:schemeClr val="tx1">
                  <a:lumMod val="15000"/>
                  <a:lumOff val="85000"/>
                </a:schemeClr>
              </a:solidFill>
              <a:round/>
            </a:ln>
            <a:effectLst/>
          </c:spPr>
        </c:majorGridlines>
        <c:numFmt formatCode="_-[$$-409]* #,##0.00_ ;_-[$$-409]* \-#,##0.00\ ;_-[$$-409]* &quot;-&quot;??_ ;_-@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708801664"/>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1200" b="0" i="0" u="none" strike="noStrike" kern="1200" baseline="0">
                <a:solidFill>
                  <a:schemeClr val="tx1">
                    <a:lumMod val="50000"/>
                  </a:schemeClr>
                </a:solidFill>
                <a:latin typeface="+mn-lt"/>
                <a:ea typeface="+mn-ea"/>
                <a:cs typeface="+mn-cs"/>
              </a:defRPr>
            </a:pPr>
            <a:endParaRPr lang="en-PK"/>
          </a:p>
        </c:txPr>
      </c:legendEntry>
      <c:legendEntry>
        <c:idx val="1"/>
        <c:txPr>
          <a:bodyPr rot="0" spcFirstLastPara="1" vertOverflow="ellipsis" vert="horz" wrap="square" anchor="ctr" anchorCtr="1"/>
          <a:lstStyle/>
          <a:p>
            <a:pPr>
              <a:defRPr sz="1050" b="0" i="0" u="none" strike="noStrike" kern="1200" baseline="0">
                <a:solidFill>
                  <a:schemeClr val="tx1">
                    <a:lumMod val="50000"/>
                  </a:schemeClr>
                </a:solidFill>
                <a:latin typeface="+mn-lt"/>
                <a:ea typeface="+mn-ea"/>
                <a:cs typeface="+mn-cs"/>
              </a:defRPr>
            </a:pPr>
            <a:endParaRPr lang="en-PK"/>
          </a:p>
        </c:txPr>
      </c:legendEntry>
      <c:legendEntry>
        <c:idx val="2"/>
        <c:txPr>
          <a:bodyPr rot="0" spcFirstLastPara="1" vertOverflow="ellipsis" vert="horz" wrap="square" anchor="ctr" anchorCtr="1"/>
          <a:lstStyle/>
          <a:p>
            <a:pPr>
              <a:defRPr sz="1050" b="0" i="0" u="none" strike="noStrike" kern="1200" baseline="0">
                <a:solidFill>
                  <a:schemeClr val="bg2">
                    <a:lumMod val="10000"/>
                  </a:schemeClr>
                </a:solidFill>
                <a:latin typeface="+mn-lt"/>
                <a:ea typeface="+mn-ea"/>
                <a:cs typeface="+mn-cs"/>
              </a:defRPr>
            </a:pPr>
            <a:endParaRPr lang="en-PK"/>
          </a:p>
        </c:txPr>
      </c:legendEntry>
      <c:layout>
        <c:manualLayout>
          <c:xMode val="edge"/>
          <c:yMode val="edge"/>
          <c:x val="0.69515022351153677"/>
          <c:y val="2.5926066433644094E-2"/>
          <c:w val="0.27123784876631329"/>
          <c:h val="0.3354516580727209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[Campaign_Data_Completed Task1.xlsx]Channel+Campaign!PivotTable1</c:name>
    <c:fmtId val="90"/>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'Channel+Campaign'!$B$5:$B$6</c:f>
              <c:strCache>
                <c:ptCount val="1"/>
                <c:pt idx="0">
                  <c:v>Email</c:v>
                </c:pt>
              </c:strCache>
            </c:strRef>
          </c:tx>
          <c:spPr>
            <a:solidFill>
              <a:schemeClr val="accent1"/>
            </a:solidFill>
            <a:ln>
              <a:noFill/>
            </a:ln>
            <a:effectLst/>
          </c:spPr>
          <c:invertIfNegative val="0"/>
          <c:cat>
            <c:strRef>
              <c:f>'Channel+Campaign'!$A$7:$A$8</c:f>
              <c:strCache>
                <c:ptCount val="1"/>
                <c:pt idx="0">
                  <c:v>A</c:v>
                </c:pt>
              </c:strCache>
            </c:strRef>
          </c:cat>
          <c:val>
            <c:numRef>
              <c:f>'Channel+Campaign'!$B$7:$B$8</c:f>
              <c:numCache>
                <c:formatCode>_-[$$-409]* #,##0.00_ ;_-[$$-409]* \-#,##0.00\ ;_-[$$-409]* "-"??_ ;_-@_ </c:formatCode>
                <c:ptCount val="1"/>
                <c:pt idx="0">
                  <c:v>2124.4699999999998</c:v>
                </c:pt>
              </c:numCache>
            </c:numRef>
          </c:val>
          <c:extLst>
            <c:ext xmlns:c16="http://schemas.microsoft.com/office/drawing/2014/chart" uri="{C3380CC4-5D6E-409C-BE32-E72D297353CC}">
              <c16:uniqueId val="{00000000-EFD6-4225-AF75-65276730CF84}"/>
            </c:ext>
          </c:extLst>
        </c:ser>
        <c:dLbls>
          <c:showLegendKey val="0"/>
          <c:showVal val="0"/>
          <c:showCatName val="0"/>
          <c:showSerName val="0"/>
          <c:showPercent val="0"/>
          <c:showBubbleSize val="0"/>
        </c:dLbls>
        <c:gapWidth val="150"/>
        <c:axId val="1894627168"/>
        <c:axId val="1894628608"/>
      </c:barChart>
      <c:catAx>
        <c:axId val="18946271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894628608"/>
        <c:crosses val="autoZero"/>
        <c:auto val="1"/>
        <c:lblAlgn val="ctr"/>
        <c:lblOffset val="100"/>
        <c:noMultiLvlLbl val="0"/>
      </c:catAx>
      <c:valAx>
        <c:axId val="1894628608"/>
        <c:scaling>
          <c:orientation val="minMax"/>
        </c:scaling>
        <c:delete val="0"/>
        <c:axPos val="l"/>
        <c:majorGridlines>
          <c:spPr>
            <a:ln w="9525" cap="flat" cmpd="sng" algn="ctr">
              <a:solidFill>
                <a:schemeClr val="tx1">
                  <a:lumMod val="15000"/>
                  <a:lumOff val="85000"/>
                </a:schemeClr>
              </a:solidFill>
              <a:round/>
            </a:ln>
            <a:effectLst/>
          </c:spPr>
        </c:majorGridlines>
        <c:numFmt formatCode="_-[$$-409]* #,##0.00_ ;_-[$$-409]* \-#,##0.00\ ;_-[$$-409]* &quot;-&quot;??_ ;_-@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894627168"/>
        <c:crosses val="autoZero"/>
        <c:crossBetween val="between"/>
      </c:valAx>
      <c:spPr>
        <a:noFill/>
        <a:ln>
          <a:solidFill>
            <a:schemeClr val="accent3">
              <a:lumMod val="75000"/>
            </a:schemeClr>
          </a:solidFill>
        </a:ln>
        <a:effectLst/>
      </c:spPr>
    </c:plotArea>
    <c:legend>
      <c:legendPos val="r"/>
      <c:overlay val="0"/>
      <c:spPr>
        <a:noFill/>
        <a:ln>
          <a:noFill/>
        </a:ln>
        <a:effectLst/>
      </c:spPr>
      <c:txPr>
        <a:bodyPr rot="0" spcFirstLastPara="1" vertOverflow="ellipsis" vert="horz" wrap="square" anchor="ctr" anchorCtr="1"/>
        <a:lstStyle/>
        <a:p>
          <a:pPr>
            <a:defRPr sz="1100" b="0" i="0" u="none" strike="noStrike" kern="1200" baseline="0">
              <a:solidFill>
                <a:schemeClr val="bg2">
                  <a:lumMod val="10000"/>
                </a:schemeClr>
              </a:solidFill>
              <a:latin typeface="+mn-lt"/>
              <a:ea typeface="+mn-ea"/>
              <a:cs typeface="+mn-cs"/>
            </a:defRPr>
          </a:pPr>
          <a:endParaRPr lang="en-PK"/>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5/19/2026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5/19/2026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41671" y="396164"/>
            <a:ext cx="10933200" cy="498598"/>
          </a:xfrm>
        </p:spPr>
        <p:txBody>
          <a:bodyPr anchor="t"/>
          <a:lstStyle/>
          <a:p>
            <a:pPr algn="ctr"/>
            <a:r>
              <a:rPr lang="en-US" sz="3600" dirty="0">
                <a:solidFill>
                  <a:schemeClr val="accent1"/>
                </a:solidFill>
                <a:latin typeface="Times New Roman" panose="02020603050405020304" pitchFamily="18" charset="0"/>
                <a:cs typeface="Times New Roman" panose="02020603050405020304" pitchFamily="18" charset="0"/>
              </a:rPr>
              <a:t>Data Visualizations</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latin typeface="Georgia" panose="02040502050405020303" pitchFamily="18" charset="0"/>
              </a:rPr>
              <a:t>Recommendation</a:t>
            </a:r>
            <a:r>
              <a:rPr lang="en-US" sz="1600" b="1" dirty="0">
                <a:solidFill>
                  <a:srgbClr val="000000"/>
                </a:solidFill>
              </a:rPr>
              <a:t>:  </a:t>
            </a:r>
            <a:r>
              <a:rPr lang="en-US" sz="1600" dirty="0">
                <a:solidFill>
                  <a:srgbClr val="000000"/>
                </a:solidFill>
                <a:latin typeface="Times New Roman" panose="02020603050405020304" pitchFamily="18" charset="0"/>
                <a:cs typeface="Times New Roman" panose="02020603050405020304" pitchFamily="18" charset="0"/>
              </a:rPr>
              <a:t>I recommend that Client should double down with Campaign A(Formal Toned) + Email. This  campaign channel has generated over $2K revenue. </a:t>
            </a:r>
            <a:r>
              <a:rPr lang="en-US" dirty="0">
                <a:latin typeface="Times New Roman" panose="02020603050405020304" pitchFamily="18" charset="0"/>
                <a:cs typeface="Times New Roman" panose="02020603050405020304" pitchFamily="18" charset="0"/>
              </a:rPr>
              <a:t> </a:t>
            </a:r>
            <a:r>
              <a:rPr lang="en-US" dirty="0">
                <a:solidFill>
                  <a:schemeClr val="tx1">
                    <a:lumMod val="50000"/>
                  </a:schemeClr>
                </a:solidFill>
                <a:latin typeface="Times New Roman" panose="02020603050405020304" pitchFamily="18" charset="0"/>
                <a:cs typeface="Times New Roman" panose="02020603050405020304" pitchFamily="18" charset="0"/>
              </a:rPr>
              <a:t>Email proved to be the most effective channel for acquiring new customers, making Campaign A + Email the clear priority for growth investment</a:t>
            </a:r>
            <a:endParaRPr lang="en-US" sz="1200" dirty="0">
              <a:solidFill>
                <a:schemeClr val="tx1">
                  <a:lumMod val="50000"/>
                </a:schemeClr>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942B0D30-68D6-1748-728E-7FA73A5976EC}"/>
              </a:ext>
            </a:extLst>
          </p:cNvPr>
          <p:cNvSpPr/>
          <p:nvPr/>
        </p:nvSpPr>
        <p:spPr>
          <a:xfrm>
            <a:off x="741247" y="1192356"/>
            <a:ext cx="2328814" cy="52322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chemeClr val="accent6">
                    <a:lumMod val="75000"/>
                  </a:schemeClr>
                </a:solidFill>
                <a:latin typeface="Times New Roman" panose="02020603050405020304" pitchFamily="18" charset="0"/>
                <a:cs typeface="Times New Roman" panose="02020603050405020304" pitchFamily="18" charset="0"/>
              </a:rPr>
              <a:t>New Customer Sales by Campaign &amp; Channel</a:t>
            </a:r>
            <a:endParaRPr lang="en-US" sz="1050" b="1" dirty="0">
              <a:solidFill>
                <a:schemeClr val="accent6">
                  <a:lumMod val="75000"/>
                </a:schemeClr>
              </a:solidFill>
              <a:latin typeface="Times New Roman" panose="02020603050405020304" pitchFamily="18" charset="0"/>
              <a:cs typeface="Times New Roman" panose="02020603050405020304" pitchFamily="18" charset="0"/>
            </a:endParaRP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271438" y="1715577"/>
            <a:ext cx="3607061" cy="2950611"/>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40178" y="1708638"/>
            <a:ext cx="3527110" cy="29644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995483" y="1714962"/>
            <a:ext cx="3808589" cy="2980701"/>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606366" y="1238520"/>
            <a:ext cx="2328814" cy="52322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chemeClr val="accent6">
                    <a:lumMod val="75000"/>
                  </a:schemeClr>
                </a:solidFill>
                <a:latin typeface="Times New Roman" panose="02020603050405020304" pitchFamily="18" charset="0"/>
                <a:cs typeface="Times New Roman" panose="02020603050405020304" pitchFamily="18" charset="0"/>
              </a:rPr>
              <a:t>Campaign &amp; Channel Mix Analysis </a:t>
            </a:r>
          </a:p>
        </p:txBody>
      </p:sp>
      <p:sp>
        <p:nvSpPr>
          <p:cNvPr id="54" name="Rectangle 53">
            <a:extLst>
              <a:ext uri="{FF2B5EF4-FFF2-40B4-BE49-F238E27FC236}">
                <a16:creationId xmlns:a16="http://schemas.microsoft.com/office/drawing/2014/main" id="{AC2F7AF7-DC76-6C1A-0458-2264EDF24BF9}"/>
              </a:ext>
            </a:extLst>
          </p:cNvPr>
          <p:cNvSpPr/>
          <p:nvPr/>
        </p:nvSpPr>
        <p:spPr>
          <a:xfrm>
            <a:off x="8471485" y="1181176"/>
            <a:ext cx="2328814" cy="52322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chemeClr val="accent6">
                    <a:lumMod val="75000"/>
                  </a:schemeClr>
                </a:solidFill>
                <a:latin typeface="Times New Roman" panose="02020603050405020304" pitchFamily="18" charset="0"/>
                <a:cs typeface="Times New Roman" panose="02020603050405020304" pitchFamily="18" charset="0"/>
              </a:rPr>
              <a:t>Top Performer: Campaign A + Email</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22" name="Chart 21">
            <a:extLst>
              <a:ext uri="{FF2B5EF4-FFF2-40B4-BE49-F238E27FC236}">
                <a16:creationId xmlns:a16="http://schemas.microsoft.com/office/drawing/2014/main" id="{B6D91A4C-F1EF-ECDF-65B2-D79D35C05F0B}"/>
              </a:ext>
            </a:extLst>
          </p:cNvPr>
          <p:cNvGraphicFramePr>
            <a:graphicFrameLocks/>
          </p:cNvGraphicFramePr>
          <p:nvPr>
            <p:extLst>
              <p:ext uri="{D42A27DB-BD31-4B8C-83A1-F6EECF244321}">
                <p14:modId xmlns:p14="http://schemas.microsoft.com/office/powerpoint/2010/main" val="2461925201"/>
              </p:ext>
            </p:extLst>
          </p:nvPr>
        </p:nvGraphicFramePr>
        <p:xfrm>
          <a:off x="302014" y="1715575"/>
          <a:ext cx="3593167" cy="2894777"/>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4" name="Chart 23">
            <a:extLst>
              <a:ext uri="{FF2B5EF4-FFF2-40B4-BE49-F238E27FC236}">
                <a16:creationId xmlns:a16="http://schemas.microsoft.com/office/drawing/2014/main" id="{73B6A38A-691C-D2BD-B283-379055D75BC8}"/>
              </a:ext>
            </a:extLst>
          </p:cNvPr>
          <p:cNvGraphicFramePr>
            <a:graphicFrameLocks/>
          </p:cNvGraphicFramePr>
          <p:nvPr>
            <p:extLst>
              <p:ext uri="{D42A27DB-BD31-4B8C-83A1-F6EECF244321}">
                <p14:modId xmlns:p14="http://schemas.microsoft.com/office/powerpoint/2010/main" val="1647536613"/>
              </p:ext>
            </p:extLst>
          </p:nvPr>
        </p:nvGraphicFramePr>
        <p:xfrm>
          <a:off x="4181776" y="1795524"/>
          <a:ext cx="3527111" cy="2925897"/>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25" name="Chart 24">
            <a:extLst>
              <a:ext uri="{FF2B5EF4-FFF2-40B4-BE49-F238E27FC236}">
                <a16:creationId xmlns:a16="http://schemas.microsoft.com/office/drawing/2014/main" id="{B6D91A4C-F1EF-ECDF-65B2-D79D35C05F0B}"/>
              </a:ext>
            </a:extLst>
          </p:cNvPr>
          <p:cNvGraphicFramePr>
            <a:graphicFrameLocks/>
          </p:cNvGraphicFramePr>
          <p:nvPr>
            <p:extLst>
              <p:ext uri="{D42A27DB-BD31-4B8C-83A1-F6EECF244321}">
                <p14:modId xmlns:p14="http://schemas.microsoft.com/office/powerpoint/2010/main" val="3856901434"/>
              </p:ext>
            </p:extLst>
          </p:nvPr>
        </p:nvGraphicFramePr>
        <p:xfrm>
          <a:off x="8126821" y="1867152"/>
          <a:ext cx="3448050" cy="2743200"/>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400</TotalTime>
  <Words>74</Words>
  <Application>Microsoft Office PowerPoint</Application>
  <PresentationFormat>Widescreen</PresentationFormat>
  <Paragraphs>5</Paragraphs>
  <Slides>1</Slides>
  <Notes>0</Notes>
  <HiddenSlides>0</HiddenSlides>
  <MMClips>0</MMClips>
  <ScaleCrop>false</ScaleCrop>
  <HeadingPairs>
    <vt:vector size="10"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8" baseType="lpstr">
      <vt:lpstr>Arial</vt:lpstr>
      <vt:lpstr>Georgia</vt:lpstr>
      <vt:lpstr>Times New Roman</vt:lpstr>
      <vt:lpstr>Trebuchet MS</vt:lpstr>
      <vt:lpstr>BCG Grid 16:9</vt:lpstr>
      <vt:lpstr>think-cell Slide</vt:lpstr>
      <vt:lpstr>Data Visualizations</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Jawaria Irfan</cp:lastModifiedBy>
  <cp:revision>10</cp:revision>
  <cp:lastPrinted>2016-04-06T18:59:25Z</cp:lastPrinted>
  <dcterms:created xsi:type="dcterms:W3CDTF">2025-04-28T17:07:03Z</dcterms:created>
  <dcterms:modified xsi:type="dcterms:W3CDTF">2026-05-19T16:50:09Z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